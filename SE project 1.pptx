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E1E1"/>
    <a:srgbClr val="EAEAEA"/>
    <a:srgbClr val="DDDDDD"/>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6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42286AD-73DC-480D-84FC-979E214F707B}"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52634E-7D25-442C-8CE2-F5EBB4677976}" type="slidenum">
              <a:rPr lang="en-US" smtClean="0"/>
              <a:t>‹#›</a:t>
            </a:fld>
            <a:endParaRPr lang="en-US"/>
          </a:p>
        </p:txBody>
      </p:sp>
    </p:spTree>
    <p:extLst>
      <p:ext uri="{BB962C8B-B14F-4D97-AF65-F5344CB8AC3E}">
        <p14:creationId xmlns:p14="http://schemas.microsoft.com/office/powerpoint/2010/main" val="3454146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2286AD-73DC-480D-84FC-979E214F707B}"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52634E-7D25-442C-8CE2-F5EBB4677976}" type="slidenum">
              <a:rPr lang="en-US" smtClean="0"/>
              <a:t>‹#›</a:t>
            </a:fld>
            <a:endParaRPr lang="en-US"/>
          </a:p>
        </p:txBody>
      </p:sp>
    </p:spTree>
    <p:extLst>
      <p:ext uri="{BB962C8B-B14F-4D97-AF65-F5344CB8AC3E}">
        <p14:creationId xmlns:p14="http://schemas.microsoft.com/office/powerpoint/2010/main" val="2071453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42286AD-73DC-480D-84FC-979E214F707B}"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52634E-7D25-442C-8CE2-F5EBB4677976}" type="slidenum">
              <a:rPr lang="en-US" smtClean="0"/>
              <a:t>‹#›</a:t>
            </a:fld>
            <a:endParaRPr lang="en-US"/>
          </a:p>
        </p:txBody>
      </p:sp>
    </p:spTree>
    <p:extLst>
      <p:ext uri="{BB962C8B-B14F-4D97-AF65-F5344CB8AC3E}">
        <p14:creationId xmlns:p14="http://schemas.microsoft.com/office/powerpoint/2010/main" val="3993529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42286AD-73DC-480D-84FC-979E214F707B}"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52634E-7D25-442C-8CE2-F5EBB4677976}" type="slidenum">
              <a:rPr lang="en-US" smtClean="0"/>
              <a:t>‹#›</a:t>
            </a:fld>
            <a:endParaRPr lang="en-US"/>
          </a:p>
        </p:txBody>
      </p:sp>
    </p:spTree>
    <p:extLst>
      <p:ext uri="{BB962C8B-B14F-4D97-AF65-F5344CB8AC3E}">
        <p14:creationId xmlns:p14="http://schemas.microsoft.com/office/powerpoint/2010/main" val="2557515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42286AD-73DC-480D-84FC-979E214F707B}"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52634E-7D25-442C-8CE2-F5EBB4677976}" type="slidenum">
              <a:rPr lang="en-US" smtClean="0"/>
              <a:t>‹#›</a:t>
            </a:fld>
            <a:endParaRPr lang="en-US"/>
          </a:p>
        </p:txBody>
      </p:sp>
    </p:spTree>
    <p:extLst>
      <p:ext uri="{BB962C8B-B14F-4D97-AF65-F5344CB8AC3E}">
        <p14:creationId xmlns:p14="http://schemas.microsoft.com/office/powerpoint/2010/main" val="56874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42286AD-73DC-480D-84FC-979E214F707B}"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52634E-7D25-442C-8CE2-F5EBB4677976}" type="slidenum">
              <a:rPr lang="en-US" smtClean="0"/>
              <a:t>‹#›</a:t>
            </a:fld>
            <a:endParaRPr lang="en-US"/>
          </a:p>
        </p:txBody>
      </p:sp>
    </p:spTree>
    <p:extLst>
      <p:ext uri="{BB962C8B-B14F-4D97-AF65-F5344CB8AC3E}">
        <p14:creationId xmlns:p14="http://schemas.microsoft.com/office/powerpoint/2010/main" val="3303582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2286AD-73DC-480D-84FC-979E214F707B}"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52634E-7D25-442C-8CE2-F5EBB4677976}" type="slidenum">
              <a:rPr lang="en-US" smtClean="0"/>
              <a:t>‹#›</a:t>
            </a:fld>
            <a:endParaRPr lang="en-US"/>
          </a:p>
        </p:txBody>
      </p:sp>
    </p:spTree>
    <p:extLst>
      <p:ext uri="{BB962C8B-B14F-4D97-AF65-F5344CB8AC3E}">
        <p14:creationId xmlns:p14="http://schemas.microsoft.com/office/powerpoint/2010/main" val="456441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2286AD-73DC-480D-84FC-979E214F707B}"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52634E-7D25-442C-8CE2-F5EBB4677976}" type="slidenum">
              <a:rPr lang="en-US" smtClean="0"/>
              <a:t>‹#›</a:t>
            </a:fld>
            <a:endParaRPr lang="en-US"/>
          </a:p>
        </p:txBody>
      </p:sp>
    </p:spTree>
    <p:extLst>
      <p:ext uri="{BB962C8B-B14F-4D97-AF65-F5344CB8AC3E}">
        <p14:creationId xmlns:p14="http://schemas.microsoft.com/office/powerpoint/2010/main" val="4130666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2286AD-73DC-480D-84FC-979E214F707B}"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52634E-7D25-442C-8CE2-F5EBB4677976}" type="slidenum">
              <a:rPr lang="en-US" smtClean="0"/>
              <a:t>‹#›</a:t>
            </a:fld>
            <a:endParaRPr lang="en-US"/>
          </a:p>
        </p:txBody>
      </p:sp>
    </p:spTree>
    <p:extLst>
      <p:ext uri="{BB962C8B-B14F-4D97-AF65-F5344CB8AC3E}">
        <p14:creationId xmlns:p14="http://schemas.microsoft.com/office/powerpoint/2010/main" val="2021053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2286AD-73DC-480D-84FC-979E214F707B}"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52634E-7D25-442C-8CE2-F5EBB4677976}" type="slidenum">
              <a:rPr lang="en-US" smtClean="0"/>
              <a:t>‹#›</a:t>
            </a:fld>
            <a:endParaRPr lang="en-US"/>
          </a:p>
        </p:txBody>
      </p:sp>
    </p:spTree>
    <p:extLst>
      <p:ext uri="{BB962C8B-B14F-4D97-AF65-F5344CB8AC3E}">
        <p14:creationId xmlns:p14="http://schemas.microsoft.com/office/powerpoint/2010/main" val="3992979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2286AD-73DC-480D-84FC-979E214F707B}"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52634E-7D25-442C-8CE2-F5EBB4677976}" type="slidenum">
              <a:rPr lang="en-US" smtClean="0"/>
              <a:t>‹#›</a:t>
            </a:fld>
            <a:endParaRPr lang="en-US"/>
          </a:p>
        </p:txBody>
      </p:sp>
    </p:spTree>
    <p:extLst>
      <p:ext uri="{BB962C8B-B14F-4D97-AF65-F5344CB8AC3E}">
        <p14:creationId xmlns:p14="http://schemas.microsoft.com/office/powerpoint/2010/main" val="2227525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2286AD-73DC-480D-84FC-979E214F707B}" type="datetimeFigureOut">
              <a:rPr lang="en-US" smtClean="0"/>
              <a:t>9/26/2026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52634E-7D25-442C-8CE2-F5EBB4677976}" type="slidenum">
              <a:rPr lang="en-US" smtClean="0"/>
              <a:t>‹#›</a:t>
            </a:fld>
            <a:endParaRPr lang="en-US"/>
          </a:p>
        </p:txBody>
      </p:sp>
    </p:spTree>
    <p:extLst>
      <p:ext uri="{BB962C8B-B14F-4D97-AF65-F5344CB8AC3E}">
        <p14:creationId xmlns:p14="http://schemas.microsoft.com/office/powerpoint/2010/main" val="1959532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86264"/>
            <a:ext cx="12192000" cy="7099540"/>
          </a:xfrm>
          <a:prstGeom prst="rect">
            <a:avLst/>
          </a:prstGeom>
        </p:spPr>
      </p:pic>
    </p:spTree>
    <p:extLst>
      <p:ext uri="{BB962C8B-B14F-4D97-AF65-F5344CB8AC3E}">
        <p14:creationId xmlns:p14="http://schemas.microsoft.com/office/powerpoint/2010/main" val="9981844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32317" y="112143"/>
            <a:ext cx="9330906" cy="526211"/>
          </a:xfrm>
          <a:solidFill>
            <a:srgbClr val="EAEAEA"/>
          </a:solidFill>
        </p:spPr>
        <p:txBody>
          <a:bodyPr>
            <a:normAutofit/>
          </a:bodyPr>
          <a:lstStyle/>
          <a:p>
            <a:r>
              <a:rPr lang="en-US" sz="2800" dirty="0" smtClean="0">
                <a:latin typeface="Algerian" panose="04020705040A02060702" pitchFamily="82" charset="0"/>
              </a:rPr>
              <a:t>TITLE :ALL MAZDOOR WEBSITE </a:t>
            </a:r>
            <a:endParaRPr lang="en-US" sz="2800" dirty="0">
              <a:latin typeface="Algerian" panose="04020705040A02060702" pitchFamily="82" charset="0"/>
            </a:endParaRPr>
          </a:p>
        </p:txBody>
      </p:sp>
      <p:sp>
        <p:nvSpPr>
          <p:cNvPr id="3" name="Subtitle 2"/>
          <p:cNvSpPr>
            <a:spLocks noGrp="1"/>
          </p:cNvSpPr>
          <p:nvPr>
            <p:ph type="subTitle" idx="1"/>
          </p:nvPr>
        </p:nvSpPr>
        <p:spPr>
          <a:xfrm>
            <a:off x="973348" y="737559"/>
            <a:ext cx="5556848" cy="5960852"/>
          </a:xfrm>
        </p:spPr>
        <p:txBody>
          <a:bodyPr>
            <a:normAutofit fontScale="85000" lnSpcReduction="20000"/>
          </a:bodyPr>
          <a:lstStyle/>
          <a:p>
            <a:pPr algn="l"/>
            <a:r>
              <a:rPr lang="en-US" sz="1800" b="1" dirty="0" smtClean="0">
                <a:latin typeface="Algerian" panose="04020705040A02060702" pitchFamily="82" charset="0"/>
              </a:rPr>
              <a:t>Problem statement :</a:t>
            </a:r>
          </a:p>
          <a:p>
            <a:pPr algn="l"/>
            <a:r>
              <a:rPr lang="en-US" sz="1600" dirty="0"/>
              <a:t>Daily-wage workers face job instability due to traditional hiring methods and digital illiteracy, while employers struggle to find verified local labor. </a:t>
            </a:r>
            <a:r>
              <a:rPr lang="en-US" sz="1600" b="1" dirty="0" err="1"/>
              <a:t>AllMazdoor</a:t>
            </a:r>
            <a:r>
              <a:rPr lang="en-US" sz="1600" dirty="0"/>
              <a:t> bridge this gap by offering a voice-assisted, CNIC-verified web platform that directly connects skilled workers with local employers</a:t>
            </a:r>
            <a:r>
              <a:rPr lang="en-US" sz="1600" dirty="0" smtClean="0"/>
              <a:t>.</a:t>
            </a:r>
          </a:p>
          <a:p>
            <a:pPr algn="l"/>
            <a:r>
              <a:rPr lang="en-US" sz="1600" b="1" dirty="0" smtClean="0">
                <a:latin typeface="Algerian" panose="04020705040A02060702" pitchFamily="82" charset="0"/>
              </a:rPr>
              <a:t>Objective :</a:t>
            </a:r>
          </a:p>
          <a:p>
            <a:pPr lvl="0" algn="l" eaLnBrk="0" fontAlgn="base" hangingPunct="0">
              <a:lnSpc>
                <a:spcPct val="100000"/>
              </a:lnSpc>
              <a:spcBef>
                <a:spcPct val="0"/>
              </a:spcBef>
              <a:spcAft>
                <a:spcPct val="0"/>
              </a:spcAft>
              <a:buFontTx/>
              <a:buChar char="•"/>
            </a:pPr>
            <a:r>
              <a:rPr lang="en-US" sz="1600" dirty="0">
                <a:latin typeface="Arial" panose="020B0604020202020204" pitchFamily="34" charset="0"/>
              </a:rPr>
              <a:t>Direct Worker-Employer Connection</a:t>
            </a:r>
          </a:p>
          <a:p>
            <a:pPr lvl="0" algn="l" eaLnBrk="0" fontAlgn="base" hangingPunct="0">
              <a:lnSpc>
                <a:spcPct val="100000"/>
              </a:lnSpc>
              <a:spcBef>
                <a:spcPct val="0"/>
              </a:spcBef>
              <a:spcAft>
                <a:spcPct val="0"/>
              </a:spcAft>
              <a:buFontTx/>
              <a:buChar char="•"/>
            </a:pPr>
            <a:r>
              <a:rPr lang="en-US" sz="1600" dirty="0">
                <a:latin typeface="Arial" panose="020B0604020202020204" pitchFamily="34" charset="0"/>
              </a:rPr>
              <a:t>Digital Accessibility via Voice Input</a:t>
            </a:r>
          </a:p>
          <a:p>
            <a:pPr lvl="0" algn="l" eaLnBrk="0" fontAlgn="base" hangingPunct="0">
              <a:lnSpc>
                <a:spcPct val="100000"/>
              </a:lnSpc>
              <a:spcBef>
                <a:spcPct val="0"/>
              </a:spcBef>
              <a:spcAft>
                <a:spcPct val="0"/>
              </a:spcAft>
              <a:buFontTx/>
              <a:buChar char="•"/>
            </a:pPr>
            <a:r>
              <a:rPr lang="en-US" sz="1600" dirty="0">
                <a:latin typeface="Arial" panose="020B0604020202020204" pitchFamily="34" charset="0"/>
              </a:rPr>
              <a:t>CNIC-Based Identity Verification</a:t>
            </a:r>
          </a:p>
          <a:p>
            <a:pPr lvl="0" algn="l" eaLnBrk="0" fontAlgn="base" hangingPunct="0">
              <a:lnSpc>
                <a:spcPct val="100000"/>
              </a:lnSpc>
              <a:spcBef>
                <a:spcPct val="0"/>
              </a:spcBef>
              <a:spcAft>
                <a:spcPct val="0"/>
              </a:spcAft>
              <a:buFontTx/>
              <a:buChar char="•"/>
            </a:pPr>
            <a:r>
              <a:rPr lang="en-US" sz="1600" dirty="0">
                <a:latin typeface="Arial" panose="020B0604020202020204" pitchFamily="34" charset="0"/>
              </a:rPr>
              <a:t>Fair Wage &amp; Transparent Rating </a:t>
            </a:r>
            <a:r>
              <a:rPr lang="en-US" sz="1600" dirty="0" smtClean="0">
                <a:latin typeface="Arial" panose="020B0604020202020204" pitchFamily="34" charset="0"/>
              </a:rPr>
              <a:t>System</a:t>
            </a:r>
          </a:p>
          <a:p>
            <a:pPr lvl="0" algn="l" eaLnBrk="0" fontAlgn="base" hangingPunct="0">
              <a:lnSpc>
                <a:spcPct val="100000"/>
              </a:lnSpc>
              <a:spcBef>
                <a:spcPct val="0"/>
              </a:spcBef>
              <a:spcAft>
                <a:spcPct val="0"/>
              </a:spcAft>
            </a:pPr>
            <a:r>
              <a:rPr lang="en-US" sz="1600" b="1" dirty="0" smtClean="0">
                <a:latin typeface="Algerian" panose="04020705040A02060702" pitchFamily="82" charset="0"/>
              </a:rPr>
              <a:t>Stack holder </a:t>
            </a:r>
          </a:p>
          <a:p>
            <a:pPr marL="285750" lvl="0" indent="-285750" algn="l" eaLnBrk="0" fontAlgn="base" hangingPunct="0">
              <a:lnSpc>
                <a:spcPct val="100000"/>
              </a:lnSpc>
              <a:spcBef>
                <a:spcPct val="0"/>
              </a:spcBef>
              <a:spcAft>
                <a:spcPct val="0"/>
              </a:spcAft>
              <a:buFont typeface="Arial" panose="020B0604020202020204" pitchFamily="34" charset="0"/>
              <a:buChar char="•"/>
            </a:pPr>
            <a:r>
              <a:rPr lang="en-US" sz="1600" b="1" dirty="0" smtClean="0"/>
              <a:t>Daily –wage laborers </a:t>
            </a:r>
          </a:p>
          <a:p>
            <a:pPr marL="285750" lvl="0" indent="-285750" algn="l" eaLnBrk="0" fontAlgn="base" hangingPunct="0">
              <a:lnSpc>
                <a:spcPct val="100000"/>
              </a:lnSpc>
              <a:spcBef>
                <a:spcPct val="0"/>
              </a:spcBef>
              <a:spcAft>
                <a:spcPct val="0"/>
              </a:spcAft>
              <a:buFont typeface="Arial" panose="020B0604020202020204" pitchFamily="34" charset="0"/>
              <a:buChar char="•"/>
            </a:pPr>
            <a:r>
              <a:rPr lang="en-US" sz="1600" b="1" dirty="0" smtClean="0"/>
              <a:t>Employee / job providers</a:t>
            </a:r>
          </a:p>
          <a:p>
            <a:pPr marL="285750" lvl="0" indent="-285750" algn="l" eaLnBrk="0" fontAlgn="base" hangingPunct="0">
              <a:lnSpc>
                <a:spcPct val="100000"/>
              </a:lnSpc>
              <a:spcBef>
                <a:spcPct val="0"/>
              </a:spcBef>
              <a:spcAft>
                <a:spcPct val="0"/>
              </a:spcAft>
              <a:buFont typeface="Arial" panose="020B0604020202020204" pitchFamily="34" charset="0"/>
              <a:buChar char="•"/>
            </a:pPr>
            <a:r>
              <a:rPr lang="en-US" sz="1600" b="1" dirty="0" smtClean="0"/>
              <a:t>Contractor &amp; builders</a:t>
            </a:r>
          </a:p>
          <a:p>
            <a:pPr marL="285750" lvl="0" indent="-285750" algn="l" eaLnBrk="0" fontAlgn="base" hangingPunct="0">
              <a:lnSpc>
                <a:spcPct val="100000"/>
              </a:lnSpc>
              <a:spcBef>
                <a:spcPct val="0"/>
              </a:spcBef>
              <a:spcAft>
                <a:spcPct val="0"/>
              </a:spcAft>
              <a:buFont typeface="Arial" panose="020B0604020202020204" pitchFamily="34" charset="0"/>
              <a:buChar char="•"/>
            </a:pPr>
            <a:r>
              <a:rPr lang="en-US" sz="1600" b="1" dirty="0" smtClean="0">
                <a:latin typeface="Algerian" panose="04020705040A02060702" pitchFamily="82" charset="0"/>
              </a:rPr>
              <a:t>Platform administrator </a:t>
            </a:r>
          </a:p>
          <a:p>
            <a:pPr lvl="0" algn="l" eaLnBrk="0" fontAlgn="base" hangingPunct="0">
              <a:lnSpc>
                <a:spcPct val="100000"/>
              </a:lnSpc>
              <a:spcBef>
                <a:spcPct val="0"/>
              </a:spcBef>
              <a:spcAft>
                <a:spcPct val="0"/>
              </a:spcAft>
            </a:pPr>
            <a:r>
              <a:rPr lang="en-US" sz="1600" b="1" dirty="0" smtClean="0">
                <a:latin typeface="Algerian" panose="04020705040A02060702" pitchFamily="82" charset="0"/>
              </a:rPr>
              <a:t>Requirements :</a:t>
            </a:r>
          </a:p>
          <a:p>
            <a:pPr marL="285750" indent="-285750" algn="l">
              <a:buFont typeface="Arial" panose="020B0604020202020204" pitchFamily="34" charset="0"/>
              <a:buChar char="•"/>
            </a:pPr>
            <a:r>
              <a:rPr lang="en-US" sz="1600" b="1" dirty="0"/>
              <a:t>Host Server:</a:t>
            </a:r>
            <a:r>
              <a:rPr lang="en-US" sz="1600" dirty="0"/>
              <a:t> </a:t>
            </a:r>
            <a:endParaRPr lang="en-US" sz="1600" dirty="0" smtClean="0"/>
          </a:p>
          <a:p>
            <a:pPr marL="285750" indent="-285750" algn="l">
              <a:buFont typeface="Arial" panose="020B0604020202020204" pitchFamily="34" charset="0"/>
              <a:buChar char="•"/>
            </a:pPr>
            <a:r>
              <a:rPr lang="en-US" sz="1600" b="1" dirty="0" smtClean="0"/>
              <a:t>Server </a:t>
            </a:r>
            <a:r>
              <a:rPr lang="en-US" sz="1600" b="1" dirty="0"/>
              <a:t>RAM &amp; </a:t>
            </a:r>
            <a:r>
              <a:rPr lang="en-US" sz="1600" b="1" dirty="0" err="1" smtClean="0"/>
              <a:t>CPUStorage</a:t>
            </a:r>
            <a:r>
              <a:rPr lang="en-US" sz="1600" b="1" dirty="0"/>
              <a:t>:</a:t>
            </a:r>
            <a:r>
              <a:rPr lang="en-US" sz="1600" dirty="0"/>
              <a:t> </a:t>
            </a:r>
            <a:endParaRPr lang="en-US" sz="1600" dirty="0" smtClean="0"/>
          </a:p>
          <a:p>
            <a:pPr marL="285750" indent="-285750" algn="l">
              <a:buFont typeface="Arial" panose="020B0604020202020204" pitchFamily="34" charset="0"/>
              <a:buChar char="•"/>
            </a:pPr>
            <a:r>
              <a:rPr lang="en-US" sz="1600" b="1" dirty="0" smtClean="0"/>
              <a:t>User </a:t>
            </a:r>
            <a:r>
              <a:rPr lang="en-US" sz="1600" b="1" dirty="0"/>
              <a:t>Device:</a:t>
            </a:r>
            <a:r>
              <a:rPr lang="en-US" sz="1600" dirty="0"/>
              <a:t> Any Mobile / Laptop with Internet &amp; </a:t>
            </a:r>
            <a:r>
              <a:rPr lang="en-US" sz="1600" dirty="0" smtClean="0"/>
              <a:t>Microphone</a:t>
            </a:r>
          </a:p>
          <a:p>
            <a:pPr marL="285750" indent="-285750" algn="l">
              <a:buFont typeface="Arial" panose="020B0604020202020204" pitchFamily="34" charset="0"/>
              <a:buChar char="•"/>
            </a:pPr>
            <a:r>
              <a:rPr lang="en-US" sz="1600" b="1" dirty="0" smtClean="0"/>
              <a:t>2</a:t>
            </a:r>
            <a:r>
              <a:rPr lang="en-US" sz="1600" b="1" dirty="0"/>
              <a:t>. Software &amp; Tech Stack Requirements</a:t>
            </a:r>
          </a:p>
          <a:p>
            <a:pPr marL="285750" indent="-285750" algn="l">
              <a:buFont typeface="Arial" panose="020B0604020202020204" pitchFamily="34" charset="0"/>
              <a:buChar char="•"/>
            </a:pPr>
            <a:r>
              <a:rPr lang="en-US" sz="1600" b="1" dirty="0"/>
              <a:t>Frontend Languages:</a:t>
            </a:r>
            <a:r>
              <a:rPr lang="en-US" sz="1600" dirty="0"/>
              <a:t> HTML5, CSS3, JavaScript</a:t>
            </a:r>
          </a:p>
          <a:p>
            <a:pPr marL="285750" indent="-285750" algn="l">
              <a:buFont typeface="Arial" panose="020B0604020202020204" pitchFamily="34" charset="0"/>
              <a:buChar char="•"/>
            </a:pPr>
            <a:r>
              <a:rPr lang="en-US" sz="1600" b="1" dirty="0"/>
              <a:t>Backend Language:</a:t>
            </a:r>
            <a:r>
              <a:rPr lang="en-US" sz="1600" dirty="0"/>
              <a:t> PHP / Python / Node.js</a:t>
            </a:r>
          </a:p>
          <a:p>
            <a:pPr marL="285750" indent="-285750" algn="l">
              <a:buFont typeface="Arial" panose="020B0604020202020204" pitchFamily="34" charset="0"/>
              <a:buChar char="•"/>
            </a:pPr>
            <a:r>
              <a:rPr lang="en-US" sz="1600" b="1" dirty="0"/>
              <a:t>Database Management System:</a:t>
            </a:r>
            <a:r>
              <a:rPr lang="en-US" sz="1600" dirty="0"/>
              <a:t> MySQL / </a:t>
            </a:r>
            <a:r>
              <a:rPr lang="en-US" sz="1600" dirty="0" err="1"/>
              <a:t>MongoDB</a:t>
            </a:r>
            <a:endParaRPr lang="en-US" sz="1600" dirty="0"/>
          </a:p>
          <a:p>
            <a:pPr marL="285750" indent="-285750" algn="l">
              <a:buFont typeface="Arial" panose="020B0604020202020204" pitchFamily="34" charset="0"/>
              <a:buChar char="•"/>
            </a:pPr>
            <a:r>
              <a:rPr lang="en-US" sz="1600" b="1" dirty="0"/>
              <a:t>Speech Recognition API:</a:t>
            </a:r>
            <a:r>
              <a:rPr lang="en-US" sz="1600" dirty="0"/>
              <a:t> Web Speech API / Google Speech-to-Text API</a:t>
            </a:r>
          </a:p>
          <a:p>
            <a:pPr marL="285750" indent="-285750" algn="l">
              <a:buFont typeface="Arial" panose="020B0604020202020204" pitchFamily="34" charset="0"/>
              <a:buChar char="•"/>
            </a:pPr>
            <a:r>
              <a:rPr lang="en-US" sz="1600" b="1" dirty="0"/>
              <a:t>Operating System:</a:t>
            </a:r>
            <a:r>
              <a:rPr lang="en-US" sz="1600" dirty="0"/>
              <a:t> Linux (Ubuntu/</a:t>
            </a:r>
            <a:r>
              <a:rPr lang="en-US" sz="1600" dirty="0" err="1"/>
              <a:t>Debian</a:t>
            </a:r>
            <a:r>
              <a:rPr lang="en-US" sz="1600" dirty="0"/>
              <a:t>) Server</a:t>
            </a:r>
          </a:p>
          <a:p>
            <a:pPr marL="285750" indent="-285750" algn="l">
              <a:buFont typeface="Arial" panose="020B0604020202020204" pitchFamily="34" charset="0"/>
              <a:buChar char="•"/>
            </a:pPr>
            <a:r>
              <a:rPr lang="en-US" sz="1600" b="1" dirty="0"/>
              <a:t>Web Server Software:</a:t>
            </a:r>
            <a:r>
              <a:rPr lang="en-US" sz="1600" dirty="0"/>
              <a:t> Apache / </a:t>
            </a:r>
            <a:r>
              <a:rPr lang="en-US" sz="1600" dirty="0" err="1"/>
              <a:t>Nginx</a:t>
            </a:r>
            <a:endParaRPr lang="en-US" sz="1600" dirty="0"/>
          </a:p>
          <a:p>
            <a:pPr lvl="0" algn="l" eaLnBrk="0" fontAlgn="base" hangingPunct="0">
              <a:lnSpc>
                <a:spcPct val="100000"/>
              </a:lnSpc>
              <a:spcBef>
                <a:spcPct val="0"/>
              </a:spcBef>
              <a:spcAft>
                <a:spcPct val="0"/>
              </a:spcAft>
            </a:pPr>
            <a:endParaRPr lang="en-US" sz="1600" b="1" dirty="0" smtClean="0"/>
          </a:p>
          <a:p>
            <a:pPr lvl="0" algn="l" eaLnBrk="0" fontAlgn="base" hangingPunct="0">
              <a:lnSpc>
                <a:spcPct val="100000"/>
              </a:lnSpc>
              <a:spcBef>
                <a:spcPct val="0"/>
              </a:spcBef>
              <a:spcAft>
                <a:spcPct val="0"/>
              </a:spcAft>
            </a:pPr>
            <a:endParaRPr lang="en-US" sz="1600" b="1" dirty="0" smtClean="0"/>
          </a:p>
          <a:p>
            <a:pPr lvl="0" algn="l" eaLnBrk="0" fontAlgn="base" hangingPunct="0">
              <a:lnSpc>
                <a:spcPct val="100000"/>
              </a:lnSpc>
              <a:spcBef>
                <a:spcPct val="0"/>
              </a:spcBef>
              <a:spcAft>
                <a:spcPct val="0"/>
              </a:spcAft>
            </a:pPr>
            <a:endParaRPr lang="en-US" sz="1600" b="1" dirty="0" smtClean="0">
              <a:latin typeface="Algerian" panose="04020705040A02060702" pitchFamily="82" charset="0"/>
            </a:endParaRPr>
          </a:p>
          <a:p>
            <a:pPr lvl="0" algn="l" eaLnBrk="0" fontAlgn="base" hangingPunct="0">
              <a:lnSpc>
                <a:spcPct val="100000"/>
              </a:lnSpc>
              <a:spcBef>
                <a:spcPct val="0"/>
              </a:spcBef>
              <a:spcAft>
                <a:spcPct val="0"/>
              </a:spcAft>
            </a:pPr>
            <a:endParaRPr lang="en-US" sz="1600" b="1" dirty="0" smtClean="0">
              <a:latin typeface="Algerian" panose="04020705040A02060702" pitchFamily="82" charset="0"/>
            </a:endParaRPr>
          </a:p>
          <a:p>
            <a:pPr algn="l"/>
            <a:endParaRPr lang="en-US" sz="1600" b="1" dirty="0" smtClean="0">
              <a:latin typeface="Algerian" panose="04020705040A02060702" pitchFamily="82" charset="0"/>
            </a:endParaRPr>
          </a:p>
        </p:txBody>
      </p:sp>
      <p:sp>
        <p:nvSpPr>
          <p:cNvPr id="4" name="Vertical Scroll 3"/>
          <p:cNvSpPr/>
          <p:nvPr/>
        </p:nvSpPr>
        <p:spPr>
          <a:xfrm>
            <a:off x="6754481" y="1497484"/>
            <a:ext cx="4508742" cy="4071669"/>
          </a:xfrm>
          <a:prstGeom prst="verticalScroll">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latin typeface="Algerian" panose="04020705040A02060702" pitchFamily="82" charset="0"/>
            </a:endParaRPr>
          </a:p>
          <a:p>
            <a:pPr algn="ctr"/>
            <a:endParaRPr lang="en-US" dirty="0" smtClean="0">
              <a:ln w="0"/>
              <a:solidFill>
                <a:schemeClr val="tx1"/>
              </a:solidFill>
              <a:effectLst>
                <a:outerShdw blurRad="38100" dist="19050" dir="2700000" algn="tl" rotWithShape="0">
                  <a:schemeClr val="dk1">
                    <a:alpha val="40000"/>
                  </a:schemeClr>
                </a:outerShdw>
              </a:effectLst>
              <a:latin typeface="Algerian" panose="04020705040A02060702" pitchFamily="82" charset="0"/>
            </a:endParaRPr>
          </a:p>
          <a:p>
            <a:endParaRPr lang="en-US" sz="1400" dirty="0" smtClean="0">
              <a:ln w="0"/>
              <a:solidFill>
                <a:schemeClr val="tx1"/>
              </a:solidFill>
              <a:effectLst>
                <a:outerShdw blurRad="38100" dist="19050" dir="2700000" algn="tl" rotWithShape="0">
                  <a:schemeClr val="dk1">
                    <a:alpha val="40000"/>
                  </a:schemeClr>
                </a:outerShdw>
              </a:effectLst>
            </a:endParaRPr>
          </a:p>
          <a:p>
            <a:endParaRPr lang="en-US" sz="1400" dirty="0">
              <a:ln w="0"/>
              <a:solidFill>
                <a:schemeClr val="tx1"/>
              </a:solidFill>
              <a:effectLst>
                <a:outerShdw blurRad="38100" dist="19050" dir="2700000" algn="tl" rotWithShape="0">
                  <a:schemeClr val="dk1">
                    <a:alpha val="40000"/>
                  </a:schemeClr>
                </a:outerShdw>
              </a:effectLst>
            </a:endParaRPr>
          </a:p>
          <a:p>
            <a:endParaRPr lang="en-US" sz="1400" dirty="0" smtClean="0">
              <a:ln w="0"/>
              <a:solidFill>
                <a:schemeClr val="tx1"/>
              </a:solidFill>
              <a:effectLst>
                <a:outerShdw blurRad="38100" dist="19050" dir="2700000" algn="tl" rotWithShape="0">
                  <a:schemeClr val="dk1">
                    <a:alpha val="40000"/>
                  </a:schemeClr>
                </a:outerShdw>
              </a:effectLst>
            </a:endParaRPr>
          </a:p>
          <a:p>
            <a:endParaRPr lang="en-US" sz="1400" dirty="0">
              <a:ln w="0"/>
              <a:solidFill>
                <a:schemeClr val="tx1"/>
              </a:solidFill>
              <a:effectLst>
                <a:outerShdw blurRad="38100" dist="19050" dir="2700000" algn="tl" rotWithShape="0">
                  <a:schemeClr val="dk1">
                    <a:alpha val="40000"/>
                  </a:schemeClr>
                </a:outerShdw>
              </a:effectLst>
            </a:endParaRPr>
          </a:p>
          <a:p>
            <a:endParaRPr lang="en-US" sz="1400" dirty="0" smtClean="0">
              <a:ln w="0"/>
              <a:solidFill>
                <a:schemeClr val="tx1"/>
              </a:solidFill>
              <a:effectLst>
                <a:outerShdw blurRad="38100" dist="19050" dir="2700000" algn="tl" rotWithShape="0">
                  <a:schemeClr val="dk1">
                    <a:alpha val="40000"/>
                  </a:schemeClr>
                </a:outerShdw>
              </a:effectLst>
            </a:endParaRPr>
          </a:p>
          <a:p>
            <a:r>
              <a:rPr lang="en-US" sz="1400" dirty="0" smtClean="0">
                <a:ln w="0"/>
                <a:solidFill>
                  <a:schemeClr val="tx1"/>
                </a:solidFill>
                <a:effectLst>
                  <a:outerShdw blurRad="38100" dist="19050" dir="2700000" algn="tl" rotWithShape="0">
                    <a:schemeClr val="dk1">
                      <a:alpha val="40000"/>
                    </a:schemeClr>
                  </a:outerShdw>
                </a:effectLst>
              </a:rPr>
              <a:t>                             </a:t>
            </a:r>
          </a:p>
          <a:p>
            <a:pPr algn="ctr"/>
            <a:r>
              <a:rPr lang="en-US" dirty="0">
                <a:ln w="0"/>
                <a:solidFill>
                  <a:schemeClr val="tx1"/>
                </a:solidFill>
                <a:effectLst>
                  <a:outerShdw blurRad="38100" dist="19050" dir="2700000" algn="tl" rotWithShape="0">
                    <a:schemeClr val="dk1">
                      <a:alpha val="40000"/>
                    </a:schemeClr>
                  </a:outerShdw>
                </a:effectLst>
                <a:latin typeface="Algerian" panose="04020705040A02060702" pitchFamily="82" charset="0"/>
              </a:rPr>
              <a:t> </a:t>
            </a:r>
            <a:r>
              <a:rPr lang="en-US" dirty="0" smtClean="0">
                <a:ln w="0"/>
                <a:solidFill>
                  <a:schemeClr val="tx1"/>
                </a:solidFill>
                <a:effectLst>
                  <a:outerShdw blurRad="38100" dist="19050" dir="2700000" algn="tl" rotWithShape="0">
                    <a:schemeClr val="dk1">
                      <a:alpha val="40000"/>
                    </a:schemeClr>
                  </a:outerShdw>
                </a:effectLst>
                <a:latin typeface="Algerian" panose="04020705040A02060702" pitchFamily="82" charset="0"/>
              </a:rPr>
              <a:t>    back ground  </a:t>
            </a:r>
            <a:endParaRPr lang="en-US" dirty="0">
              <a:ln w="0"/>
              <a:solidFill>
                <a:schemeClr val="tx1"/>
              </a:solidFill>
              <a:effectLst>
                <a:outerShdw blurRad="38100" dist="19050" dir="2700000" algn="tl" rotWithShape="0">
                  <a:schemeClr val="dk1">
                    <a:alpha val="40000"/>
                  </a:schemeClr>
                </a:outerShdw>
              </a:effectLst>
              <a:latin typeface="Algerian" panose="04020705040A02060702" pitchFamily="82" charset="0"/>
            </a:endParaRPr>
          </a:p>
          <a:p>
            <a:r>
              <a:rPr lang="en-US" sz="1400" dirty="0" smtClean="0">
                <a:ln w="0"/>
                <a:solidFill>
                  <a:schemeClr val="tx1"/>
                </a:solidFill>
                <a:effectLst>
                  <a:outerShdw blurRad="38100" dist="19050" dir="2700000" algn="tl" rotWithShape="0">
                    <a:schemeClr val="dk1">
                      <a:alpha val="40000"/>
                    </a:schemeClr>
                  </a:outerShdw>
                </a:effectLst>
              </a:rPr>
              <a:t>Daily-wage </a:t>
            </a:r>
            <a:r>
              <a:rPr lang="en-US" sz="1400" dirty="0">
                <a:ln w="0"/>
                <a:solidFill>
                  <a:schemeClr val="tx1"/>
                </a:solidFill>
                <a:effectLst>
                  <a:outerShdw blurRad="38100" dist="19050" dir="2700000" algn="tl" rotWithShape="0">
                    <a:schemeClr val="dk1">
                      <a:alpha val="40000"/>
                    </a:schemeClr>
                  </a:outerShdw>
                </a:effectLst>
              </a:rPr>
              <a:t>laborers usually wait at street corners (</a:t>
            </a:r>
            <a:r>
              <a:rPr lang="en-US" sz="1400" i="1" dirty="0" err="1">
                <a:ln w="0"/>
                <a:solidFill>
                  <a:schemeClr val="tx1"/>
                </a:solidFill>
                <a:effectLst>
                  <a:outerShdw blurRad="38100" dist="19050" dir="2700000" algn="tl" rotWithShape="0">
                    <a:schemeClr val="dk1">
                      <a:alpha val="40000"/>
                    </a:schemeClr>
                  </a:outerShdw>
                </a:effectLst>
              </a:rPr>
              <a:t>chowks</a:t>
            </a:r>
            <a:r>
              <a:rPr lang="en-US" sz="1400" dirty="0">
                <a:ln w="0"/>
                <a:solidFill>
                  <a:schemeClr val="tx1"/>
                </a:solidFill>
                <a:effectLst>
                  <a:outerShdw blurRad="38100" dist="19050" dir="2700000" algn="tl" rotWithShape="0">
                    <a:schemeClr val="dk1">
                      <a:alpha val="40000"/>
                    </a:schemeClr>
                  </a:outerShdw>
                </a:effectLst>
              </a:rPr>
              <a:t>) every day to find work, which leads to uncertain income and lost time. On the other hand, local homeowners and contractors struggle to find trusted and skilled labor nearby. Common job apps do not help daily-wage workers because many cannot read or write text-based interfaces. </a:t>
            </a:r>
            <a:r>
              <a:rPr lang="en-US" sz="1400" dirty="0" err="1">
                <a:ln w="0"/>
                <a:solidFill>
                  <a:schemeClr val="tx1"/>
                </a:solidFill>
                <a:effectLst>
                  <a:outerShdw blurRad="38100" dist="19050" dir="2700000" algn="tl" rotWithShape="0">
                    <a:schemeClr val="dk1">
                      <a:alpha val="40000"/>
                    </a:schemeClr>
                  </a:outerShdw>
                </a:effectLst>
              </a:rPr>
              <a:t>AllMazdoor</a:t>
            </a:r>
            <a:r>
              <a:rPr lang="en-US" sz="1400" dirty="0">
                <a:ln w="0"/>
                <a:solidFill>
                  <a:schemeClr val="tx1"/>
                </a:solidFill>
                <a:effectLst>
                  <a:outerShdw blurRad="38100" dist="19050" dir="2700000" algn="tl" rotWithShape="0">
                    <a:schemeClr val="dk1">
                      <a:alpha val="40000"/>
                    </a:schemeClr>
                  </a:outerShdw>
                </a:effectLst>
              </a:rPr>
              <a:t> solves this problem by using voice commands, location-based searches, and CNIC verification to easily connect workers with employers. </a:t>
            </a:r>
            <a:endParaRPr lang="en-US" sz="1400" dirty="0" smtClean="0">
              <a:ln w="0"/>
              <a:solidFill>
                <a:schemeClr val="tx1"/>
              </a:solidFill>
              <a:effectLst>
                <a:outerShdw blurRad="38100" dist="19050" dir="2700000" algn="tl" rotWithShape="0">
                  <a:schemeClr val="dk1">
                    <a:alpha val="40000"/>
                  </a:schemeClr>
                </a:outerShdw>
              </a:effectLst>
              <a:latin typeface="Algerian" panose="04020705040A02060702" pitchFamily="82" charset="0"/>
            </a:endParaRPr>
          </a:p>
          <a:p>
            <a:pPr algn="ctr"/>
            <a:endParaRPr lang="en-US" dirty="0">
              <a:ln w="0"/>
              <a:solidFill>
                <a:schemeClr val="tx1"/>
              </a:solidFill>
              <a:effectLst>
                <a:outerShdw blurRad="38100" dist="19050" dir="2700000" algn="tl" rotWithShape="0">
                  <a:schemeClr val="dk1">
                    <a:alpha val="40000"/>
                  </a:schemeClr>
                </a:outerShdw>
              </a:effectLst>
              <a:latin typeface="Algerian" panose="04020705040A02060702" pitchFamily="82" charset="0"/>
            </a:endParaRPr>
          </a:p>
          <a:p>
            <a:pPr algn="ctr"/>
            <a:endParaRPr lang="en-US" dirty="0" smtClean="0">
              <a:ln w="0"/>
              <a:solidFill>
                <a:schemeClr val="tx1"/>
              </a:solidFill>
              <a:effectLst>
                <a:outerShdw blurRad="38100" dist="19050" dir="2700000" algn="tl" rotWithShape="0">
                  <a:schemeClr val="dk1">
                    <a:alpha val="40000"/>
                  </a:schemeClr>
                </a:outerShdw>
              </a:effectLst>
              <a:latin typeface="Algerian" panose="04020705040A02060702" pitchFamily="82" charset="0"/>
            </a:endParaRPr>
          </a:p>
          <a:p>
            <a:pPr algn="ctr"/>
            <a:endParaRPr lang="en-US" dirty="0">
              <a:ln w="0"/>
              <a:solidFill>
                <a:schemeClr val="tx1"/>
              </a:solidFill>
              <a:effectLst>
                <a:outerShdw blurRad="38100" dist="19050" dir="2700000" algn="tl" rotWithShape="0">
                  <a:schemeClr val="dk1">
                    <a:alpha val="40000"/>
                  </a:schemeClr>
                </a:outerShdw>
              </a:effectLst>
              <a:latin typeface="Algerian" panose="04020705040A02060702" pitchFamily="82" charset="0"/>
            </a:endParaRPr>
          </a:p>
          <a:p>
            <a:pPr algn="ctr"/>
            <a:endParaRPr lang="en-US" dirty="0" smtClean="0">
              <a:ln w="0"/>
              <a:solidFill>
                <a:schemeClr val="tx1"/>
              </a:solidFill>
              <a:effectLst>
                <a:outerShdw blurRad="38100" dist="19050" dir="2700000" algn="tl" rotWithShape="0">
                  <a:schemeClr val="dk1">
                    <a:alpha val="40000"/>
                  </a:schemeClr>
                </a:outerShdw>
              </a:effectLst>
              <a:latin typeface="Algerian" panose="04020705040A02060702" pitchFamily="82" charset="0"/>
            </a:endParaRPr>
          </a:p>
          <a:p>
            <a:pPr algn="ctr"/>
            <a:endParaRPr lang="en-US" dirty="0">
              <a:ln w="0"/>
              <a:solidFill>
                <a:schemeClr val="tx1"/>
              </a:solidFill>
              <a:effectLst>
                <a:outerShdw blurRad="38100" dist="19050" dir="2700000" algn="tl" rotWithShape="0">
                  <a:schemeClr val="dk1">
                    <a:alpha val="40000"/>
                  </a:schemeClr>
                </a:outerShdw>
              </a:effectLst>
              <a:latin typeface="Algerian" panose="04020705040A02060702" pitchFamily="82" charset="0"/>
            </a:endParaRPr>
          </a:p>
          <a:p>
            <a:pPr algn="ctr"/>
            <a:endParaRPr lang="en-US" dirty="0" smtClean="0">
              <a:ln w="0"/>
              <a:solidFill>
                <a:schemeClr val="tx1"/>
              </a:solidFill>
              <a:effectLst>
                <a:outerShdw blurRad="38100" dist="19050" dir="2700000" algn="tl" rotWithShape="0">
                  <a:schemeClr val="dk1">
                    <a:alpha val="40000"/>
                  </a:schemeClr>
                </a:outerShdw>
              </a:effectLst>
              <a:latin typeface="Algerian" panose="04020705040A02060702" pitchFamily="82" charset="0"/>
            </a:endParaRPr>
          </a:p>
          <a:p>
            <a:pPr algn="ctr"/>
            <a:endParaRPr lang="en-US" dirty="0">
              <a:ln w="0"/>
              <a:solidFill>
                <a:schemeClr val="tx1"/>
              </a:solidFill>
              <a:effectLst>
                <a:outerShdw blurRad="38100" dist="19050" dir="2700000" algn="tl" rotWithShape="0">
                  <a:schemeClr val="dk1">
                    <a:alpha val="40000"/>
                  </a:schemeClr>
                </a:outerShdw>
              </a:effectLst>
              <a:latin typeface="Algerian" panose="04020705040A02060702" pitchFamily="82" charset="0"/>
            </a:endParaRPr>
          </a:p>
        </p:txBody>
      </p:sp>
      <p:sp>
        <p:nvSpPr>
          <p:cNvPr id="6" name="Rectangle 1"/>
          <p:cNvSpPr>
            <a:spLocks noChangeArrowheads="1"/>
          </p:cNvSpPr>
          <p:nvPr/>
        </p:nvSpPr>
        <p:spPr bwMode="auto">
          <a:xfrm>
            <a:off x="1725284" y="3550572"/>
            <a:ext cx="35713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2147977" y="3348653"/>
            <a:ext cx="207896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23076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103516"/>
            <a:ext cx="12192000" cy="6961516"/>
          </a:xfrm>
          <a:prstGeom prst="rect">
            <a:avLst/>
          </a:prstGeom>
        </p:spPr>
      </p:pic>
    </p:spTree>
    <p:extLst>
      <p:ext uri="{BB962C8B-B14F-4D97-AF65-F5344CB8AC3E}">
        <p14:creationId xmlns:p14="http://schemas.microsoft.com/office/powerpoint/2010/main" val="9302741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1888732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0385" y="86265"/>
            <a:ext cx="12131615" cy="6711350"/>
          </a:xfrm>
          <a:prstGeom prst="rect">
            <a:avLst/>
          </a:prstGeom>
        </p:spPr>
      </p:pic>
    </p:spTree>
    <p:extLst>
      <p:ext uri="{BB962C8B-B14F-4D97-AF65-F5344CB8AC3E}">
        <p14:creationId xmlns:p14="http://schemas.microsoft.com/office/powerpoint/2010/main" val="39779011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45341" y="0"/>
            <a:ext cx="14092518" cy="6879672"/>
          </a:xfrm>
          <a:prstGeom prst="rect">
            <a:avLst/>
          </a:prstGeom>
        </p:spPr>
      </p:pic>
    </p:spTree>
    <p:extLst>
      <p:ext uri="{BB962C8B-B14F-4D97-AF65-F5344CB8AC3E}">
        <p14:creationId xmlns:p14="http://schemas.microsoft.com/office/powerpoint/2010/main" val="20377067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 y="-98612"/>
            <a:ext cx="12192000" cy="6956612"/>
          </a:xfrm>
          <a:prstGeom prst="rect">
            <a:avLst/>
          </a:prstGeom>
        </p:spPr>
      </p:pic>
    </p:spTree>
    <p:extLst>
      <p:ext uri="{BB962C8B-B14F-4D97-AF65-F5344CB8AC3E}">
        <p14:creationId xmlns:p14="http://schemas.microsoft.com/office/powerpoint/2010/main" val="8149224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30" t="-557" r="2912" b="2647"/>
          <a:stretch/>
        </p:blipFill>
        <p:spPr>
          <a:xfrm>
            <a:off x="0" y="-1"/>
            <a:ext cx="12192000" cy="6711351"/>
          </a:xfrm>
          <a:prstGeom prst="rect">
            <a:avLst/>
          </a:prstGeom>
        </p:spPr>
      </p:pic>
    </p:spTree>
    <p:extLst>
      <p:ext uri="{BB962C8B-B14F-4D97-AF65-F5344CB8AC3E}">
        <p14:creationId xmlns:p14="http://schemas.microsoft.com/office/powerpoint/2010/main" val="5336308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0"/>
            <a:ext cx="12465170" cy="7306573"/>
          </a:xfrm>
          <a:prstGeom prst="rect">
            <a:avLst/>
          </a:prstGeom>
        </p:spPr>
      </p:pic>
    </p:spTree>
    <p:extLst>
      <p:ext uri="{BB962C8B-B14F-4D97-AF65-F5344CB8AC3E}">
        <p14:creationId xmlns:p14="http://schemas.microsoft.com/office/powerpoint/2010/main" val="10381136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
            <a:ext cx="12191999" cy="6694098"/>
          </a:xfrm>
          <a:prstGeom prst="rect">
            <a:avLst/>
          </a:prstGeom>
        </p:spPr>
      </p:pic>
    </p:spTree>
    <p:extLst>
      <p:ext uri="{BB962C8B-B14F-4D97-AF65-F5344CB8AC3E}">
        <p14:creationId xmlns:p14="http://schemas.microsoft.com/office/powerpoint/2010/main" val="32704776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1115" r="2235"/>
          <a:stretch/>
        </p:blipFill>
        <p:spPr>
          <a:xfrm>
            <a:off x="1" y="0"/>
            <a:ext cx="12192000" cy="6797615"/>
          </a:xfrm>
          <a:prstGeom prst="rect">
            <a:avLst/>
          </a:prstGeom>
        </p:spPr>
      </p:pic>
    </p:spTree>
    <p:extLst>
      <p:ext uri="{BB962C8B-B14F-4D97-AF65-F5344CB8AC3E}">
        <p14:creationId xmlns:p14="http://schemas.microsoft.com/office/powerpoint/2010/main" val="18765481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754483"/>
          </a:xfrm>
          <a:prstGeom prst="rect">
            <a:avLst/>
          </a:prstGeom>
        </p:spPr>
      </p:pic>
    </p:spTree>
    <p:extLst>
      <p:ext uri="{BB962C8B-B14F-4D97-AF65-F5344CB8AC3E}">
        <p14:creationId xmlns:p14="http://schemas.microsoft.com/office/powerpoint/2010/main" val="3424271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0576032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6264" y="0"/>
            <a:ext cx="12105736" cy="6771736"/>
          </a:xfrm>
          <a:prstGeom prst="rect">
            <a:avLst/>
          </a:prstGeom>
        </p:spPr>
      </p:pic>
    </p:spTree>
    <p:extLst>
      <p:ext uri="{BB962C8B-B14F-4D97-AF65-F5344CB8AC3E}">
        <p14:creationId xmlns:p14="http://schemas.microsoft.com/office/powerpoint/2010/main" val="364136328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TotalTime>
  <Words>249</Words>
  <Application>Microsoft Office PowerPoint</Application>
  <PresentationFormat>Widescreen</PresentationFormat>
  <Paragraphs>42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Algerian</vt:lpstr>
      <vt:lpstr>Arial</vt:lpstr>
      <vt:lpstr>Calibri</vt:lpstr>
      <vt:lpstr>Calibri Light</vt:lpstr>
      <vt:lpstr>Office Theme</vt:lpstr>
      <vt:lpstr>PowerPoint Presentation</vt:lpstr>
      <vt:lpstr>TITLE :ALL MAZDOOR WEBSITE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10</cp:revision>
  <dcterms:created xsi:type="dcterms:W3CDTF">2026-09-27T04:50:22Z</dcterms:created>
  <dcterms:modified xsi:type="dcterms:W3CDTF">2026-09-27T06:54:35Z</dcterms:modified>
</cp:coreProperties>
</file>